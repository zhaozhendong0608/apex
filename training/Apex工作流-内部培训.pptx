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分钟。先给结构：6 个概念，每个概念后面跟 2~3 张小页，每页只讲一件事。</a:t>
            </a:r>
          </a:p>
          <a:p>
            <a:r>
              <a:t>不要求记住指令编号，只要记住「为什么会这么做」。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分钟。逐条念，看有没有人点头，现场收集一个真实案例替换掉第 2 或第 3 条。</a:t>
            </a:r>
          </a:p>
          <a:p>
            <a:r>
              <a:t>这一页的目的不是讲流程，是先让大家承认：我们都踩过。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分钟。这是全场第一个概念，要慢。</a:t>
            </a:r>
          </a:p>
          <a:p>
            <a:r>
              <a:t>类比：装修不会「直接开始刷墙」—— 量房、出图、水电、瓦工、验收，每一步做完都能被看见。</a:t>
            </a:r>
          </a:p>
          <a:p>
            <a:r>
              <a:t>停下来问一句：你们现在让 AI 写功能，中间有几道检查？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分钟。这是全场的地图，必须讲透。</a:t>
            </a:r>
          </a:p>
          <a:p>
            <a:r>
              <a:t>手势：从左往右划 1~7，再指下面两行说明「产物」和「谁签字」。</a:t>
            </a:r>
          </a:p>
          <a:p>
            <a:r>
              <a:t>别在这里展开每一步怎么做 —— 后面每个概念会拆。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分钟。可以现场演示这一段，比讲十遍有用。</a:t>
            </a:r>
          </a:p>
          <a:p>
            <a:r>
              <a:t>重点演示「你推荐默认值」—— 让新人看到：不会答也能往下走，不会卡住。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分钟。这页决定新人愿不愿意用：先告诉他「有轻量通道」。</a:t>
            </a:r>
          </a:p>
          <a:p>
            <a:r>
              <a:t>明确规则：B 开头不推进任务状态，所以不会打乱看板。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分钟。这是第二个概念，也是最反直觉的一个。</a:t>
            </a:r>
          </a:p>
          <a:p>
            <a:r>
              <a:t>问一句：上周 AI 跟你说过几次「已完成」，你验证过几次？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分钟。三种视角正好对上开发 / 评审人 / 管理者。</a:t>
            </a:r>
          </a:p>
          <a:p>
            <a:r>
              <a:t>强调：三道闸查的东西不重复 —— 机器查规则，人查意图，机器再查证据。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分钟。这页最好现场演：故意写个 mock 字符串，跑一次门禁，让大家看红字长什么样。</a:t>
            </a:r>
          </a:p>
          <a:p>
            <a:r>
              <a:t>重点纠正「没报错 = 通过」这个直觉。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分钟。契约这个词对产品同事也友好：就是「说好的东西」。</a:t>
            </a:r>
          </a:p>
          <a:p>
            <a:r>
              <a:t>举反例：字段名从 userName 改成 user_name，前端还在用旧的 —— 这就是契约被单方面改了。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分钟。三类契约要念清楚，这是「什么时候必须停下来」的唯一判据。</a:t>
            </a:r>
          </a:p>
          <a:p>
            <a:r>
              <a:t>可以问 QA 同事：你们最怕哪种？多半是返回值结构。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分钟。左右对照很直观，讲完停两秒让大家看差异。</a:t>
            </a:r>
          </a:p>
          <a:p>
            <a:r>
              <a:t>强调时间差：不同步的代价不是立刻爆，是下次开工时爆。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分钟。这是所有长期用 AI 的人最痛的点：聊到后面它变傻。</a:t>
            </a:r>
          </a:p>
          <a:p>
            <a:r>
              <a:t>一句话点透：不是模型记性差，是你把记忆放在了最不可靠的地方 —— 对话流。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分钟。用「便签 / 组织图 / 看板」的类比讲，产品同事也能秒懂。</a:t>
            </a:r>
          </a:p>
          <a:p>
            <a:r>
              <a:t>重点：分层加载不是为了省钱，是为了让它在每一轮只被最相关的信息占据注意力。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分钟。让所有人现在就试一次 B5 归档，感受「关窗口不丢事」。</a:t>
            </a:r>
          </a:p>
          <a:p>
            <a:r>
              <a:t>这是这套东西和「聊天式 AI」最大的差异点，值得多花一分钟。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分钟。这个概念让方案显得可信 —— 承认成本，才不是宗教。</a:t>
            </a:r>
          </a:p>
          <a:p>
            <a:r>
              <a:t>一句话：流程不能消灭返工，只能把返工提前到便宜的时候。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分钟。现场举手：最近一周的改动，哪一行最多？</a:t>
            </a:r>
          </a:p>
          <a:p>
            <a:r>
              <a:t>这页是「愿意用」的关键 —— 先降低门槛，再谈规范。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分钟。这页是可信度的来源，别删。</a:t>
            </a:r>
          </a:p>
          <a:p>
            <a:r>
              <a:t>可以自嘲：我自己写一次性脚本，也从来不跑流程。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分钟。最后一个概念，讲的是「人怎么站位」。</a:t>
            </a:r>
          </a:p>
          <a:p>
            <a:r>
              <a:t>对产品/测试同事尤其重要：他们不需要写代码，但需要会说这四句话。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分钟。这页是给不写代码的同事用的 —— 他们用这四句话，就能管住 AI。</a:t>
            </a:r>
          </a:p>
          <a:p>
            <a:r>
              <a:t>建议现场让大家挑一句抄进便签。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分钟。大字念完即可，别解释太多。</a:t>
            </a:r>
          </a:p>
          <a:p>
            <a:r>
              <a:t>建议打印成 A4 贴工位。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分钟。这页回答「怎么坚持下来」：把流程变成四个日常动作，而不是七步仪式。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分钟。落到「下周做什么」，不要停在「大家要重视」。</a:t>
            </a:r>
          </a:p>
          <a:p>
            <a:r>
              <a:t>建议指定一个人当工作流值班人，第一周专答 B2/B3。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分钟。这页单独导成 A4 发群里。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 6 分钟：Q&amp;A。三个动作任选一个承诺即可，不要要求全做。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8C9196"/>
                </a:solidFill>
                <a:latin typeface="PingFang SC"/>
              </a:rPr>
              <a:t>INTERNAL TRAINING  ·  6 个大概念  ·  60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81328"/>
            <a:ext cx="786384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3800" b="1" i="0">
                <a:solidFill>
                  <a:srgbClr val="F2EFE8"/>
                </a:solidFill>
                <a:latin typeface="PingFang SC"/>
              </a:rPr>
              <a:t>用 AI 写代码，</a:t>
            </a:r>
          </a:p>
          <a:p>
            <a:pPr algn="l">
              <a:lnSpc>
                <a:spcPct val="135000"/>
              </a:lnSpc>
            </a:pPr>
            <a:r>
              <a:rPr sz="3800" b="1" i="0">
                <a:solidFill>
                  <a:srgbClr val="F2EFE8"/>
                </a:solidFill>
                <a:latin typeface="PingFang SC"/>
              </a:rPr>
              <a:t>缺的不是能力</a:t>
            </a:r>
          </a:p>
          <a:p>
            <a:pPr algn="l">
              <a:lnSpc>
                <a:spcPct val="135000"/>
              </a:lnSpc>
            </a:pPr>
            <a:r>
              <a:rPr sz="3800" b="1" i="0">
                <a:solidFill>
                  <a:srgbClr val="C2410C"/>
                </a:solidFill>
                <a:latin typeface="PingFang SC"/>
              </a:rPr>
              <a:t>缺的是能验收的工序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605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F2EFE8"/>
                </a:solidFill>
                <a:latin typeface="PingFang SC"/>
              </a:rPr>
              <a:t>Apex 工作流 · Vibe Coding 3.0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A8ADB1"/>
                </a:solidFill>
                <a:latin typeface="PingFang SC"/>
              </a:rPr>
              <a:t>不讲 16 篇 SOP，只讲 6 个能记住的概念，和每个概念下最该知道的那几件事。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5779008"/>
            <a:ext cx="6995160" cy="0"/>
          </a:xfrm>
          <a:prstGeom prst="line">
            <a:avLst/>
          </a:prstGeom>
          <a:ln w="11430">
            <a:solidFill>
              <a:srgbClr val="3A40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594360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8C9196"/>
                </a:solidFill>
                <a:latin typeface="PingFang SC"/>
              </a:rPr>
              <a:t>面向 开发 / 测试 / 产品  · 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3624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5168" y="1325880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F2EFE8"/>
                </a:solidFill>
                <a:latin typeface="PingFang SC"/>
              </a:rPr>
              <a:t>工序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35640" y="1481328"/>
            <a:ext cx="640080" cy="0"/>
          </a:xfrm>
          <a:prstGeom prst="line">
            <a:avLst/>
          </a:prstGeom>
          <a:ln w="11430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0" y="19293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1892808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F2EFE8"/>
                </a:solidFill>
                <a:latin typeface="PingFang SC"/>
              </a:rPr>
              <a:t>验收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35640" y="2048256"/>
            <a:ext cx="640080" cy="0"/>
          </a:xfrm>
          <a:prstGeom prst="line">
            <a:avLst/>
          </a:prstGeom>
          <a:ln w="11430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69680" y="24963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8" y="2459736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F2EFE8"/>
                </a:solidFill>
                <a:latin typeface="PingFang SC"/>
              </a:rPr>
              <a:t>契约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35640" y="2615184"/>
            <a:ext cx="640080" cy="0"/>
          </a:xfrm>
          <a:prstGeom prst="line">
            <a:avLst/>
          </a:prstGeom>
          <a:ln w="11430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0" y="3063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3026664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F2EFE8"/>
                </a:solidFill>
                <a:latin typeface="PingFang SC"/>
              </a:rPr>
              <a:t>状态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35640" y="3182112"/>
            <a:ext cx="640080" cy="0"/>
          </a:xfrm>
          <a:prstGeom prst="line">
            <a:avLst/>
          </a:prstGeom>
          <a:ln w="11430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69680" y="36301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593591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F2EFE8"/>
                </a:solidFill>
                <a:latin typeface="PingFang SC"/>
              </a:rPr>
              <a:t>成本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35640" y="3749039"/>
            <a:ext cx="640080" cy="0"/>
          </a:xfrm>
          <a:prstGeom prst="line">
            <a:avLst/>
          </a:prstGeom>
          <a:ln w="11430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69680" y="419709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4160520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F2EFE8"/>
                </a:solidFill>
                <a:latin typeface="PingFang SC"/>
              </a:rPr>
              <a:t>包工头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835640" y="4315968"/>
            <a:ext cx="640080" cy="0"/>
          </a:xfrm>
          <a:prstGeom prst="line">
            <a:avLst/>
          </a:prstGeom>
          <a:ln w="11430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开场 · 先对齐一下体感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这四句话，你一定听过其中三句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这四件事，没有一件是「模型不够聪明」造成的 —— 都是没有工序。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02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262372" cy="1517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1901952"/>
            <a:ext cx="434797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「AI 说做完了」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395728"/>
            <a:ext cx="434797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一跑就崩。它只验证了自己想象的那条路径。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80" y="1737360"/>
            <a:ext cx="5262372" cy="1517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6812" y="193852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9148" y="1901952"/>
            <a:ext cx="434797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「先跑起来再说」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9148" y="2395728"/>
            <a:ext cx="434797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页面里是写死的假数据，联调那天集体爆炸。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38144"/>
            <a:ext cx="5262372" cy="1517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3931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602736"/>
            <a:ext cx="434797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「顺手帮我优化下」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096512"/>
            <a:ext cx="434797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改了 9 个文件，review 时没人看得下去。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3438144"/>
            <a:ext cx="5262372" cy="1517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6812" y="3639312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9148" y="3602736"/>
            <a:ext cx="434797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「聊到第二十五轮」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9148" y="4096512"/>
            <a:ext cx="434797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它开始忘掉前面定的规则，越改越歪。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30368"/>
            <a:ext cx="10817352" cy="384048"/>
          </a:xfrm>
          <a:prstGeom prst="roundRect">
            <a:avLst>
              <a:gd name="adj" fmla="val 3000"/>
            </a:avLst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30368"/>
            <a:ext cx="10817352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50" b="1" i="0">
                <a:solidFill>
                  <a:srgbClr val="F2EFE8"/>
                </a:solidFill>
                <a:latin typeface="PingFang SC"/>
              </a:rPr>
              <a:t>四个坑，一个共同点：中间没有任何一步「被检查过」。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大概念 01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· 工序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0292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0" b="1" i="0">
                <a:solidFill>
                  <a:srgbClr val="202528"/>
                </a:solidFill>
                <a:latin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F2EFE8"/>
                </a:solidFill>
                <a:latin typeface="PingFang SC"/>
              </a:rPr>
              <a:t>把「写个功能」，</a:t>
            </a:r>
          </a:p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C2410C"/>
                </a:solidFill>
                <a:latin typeface="PingFang SC"/>
              </a:rPr>
              <a:t>拆成七道能检查的工序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1005840" cy="0"/>
          </a:xfrm>
          <a:prstGeom prst="line">
            <a:avLst/>
          </a:prstGeom>
          <a:ln w="254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8795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B4B8BB"/>
                </a:solidFill>
                <a:latin typeface="PingFang SC"/>
              </a:rPr>
              <a:t>你不缺更聪明的模型，缺的是一条不会跳步的流水线。
每一步都留下可以被别人检查的东西，坏消息就会在便宜的时候被发现。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308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工序 01/03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七道工序，各有各的产物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就像装修：量房 → 出图 → 水电 → 瓦工 → 验收，没人会「直接开始刷墙」。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04 / 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97656" y="2331720"/>
            <a:ext cx="9193639" cy="0"/>
          </a:xfrm>
          <a:prstGeom prst="line">
            <a:avLst/>
          </a:prstGeom>
          <a:ln w="1905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05632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5632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PRD / 原型 / 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7905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7905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0369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0369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接口 / 表结构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178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178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2642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2642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源码 + 单测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2451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02451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4915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门禁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4915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LGTM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34725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34725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7188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评审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7188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评审意见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6998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6998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9461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9461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用例矩阵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99271" y="213969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99271" y="220827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nlo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1734" y="2697479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100" b="1" i="0">
                <a:solidFill>
                  <a:srgbClr val="1A1C1E"/>
                </a:solidFill>
                <a:latin typeface="PingFang SC"/>
              </a:rPr>
              <a:t>验收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1734" y="2990087"/>
            <a:ext cx="1459121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b="0" i="0">
                <a:solidFill>
                  <a:srgbClr val="3D4148"/>
                </a:solidFill>
                <a:latin typeface="PingFang SC"/>
              </a:rPr>
              <a:t>标绿归档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419856"/>
            <a:ext cx="10817352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3D4148"/>
                </a:solidFill>
                <a:latin typeface="PingFang SC"/>
              </a:rPr>
              <a:t>每一道工序结束时，都会在硬盘上留下一个文件或一份输出 —— 而不是「AI 说它做完了」。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041648"/>
            <a:ext cx="5262372" cy="1316736"/>
          </a:xfrm>
          <a:prstGeom prst="roundRect">
            <a:avLst>
              <a:gd name="adj" fmla="val 3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" y="4187952"/>
            <a:ext cx="48051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4535B"/>
                </a:solidFill>
                <a:latin typeface="PingFang SC"/>
              </a:rPr>
              <a:t>数字 1~7：会推进任务状态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" y="4517136"/>
            <a:ext cx="48051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3D4148"/>
                </a:solidFill>
                <a:latin typeface="PingFang SC"/>
              </a:rPr>
              <a:t>对应的 SOP 会自动加载，你看编号就知道自己走到哪了。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0780" y="4041648"/>
            <a:ext cx="5262372" cy="1316736"/>
          </a:xfrm>
          <a:prstGeom prst="roundRect">
            <a:avLst>
              <a:gd name="adj" fmla="val 3000"/>
            </a:avLst>
          </a:prstGeom>
          <a:solidFill>
            <a:srgbClr val="F6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8524" y="4187952"/>
            <a:ext cx="48051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5 评审不改状态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8524" y="4517136"/>
            <a:ext cx="48051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3D4148"/>
                </a:solidFill>
                <a:latin typeface="PingFang SC"/>
              </a:rPr>
              <a:t>机器判不了的（分层、命名、可读性）才交给人 —— 人只做判断，不做打卡。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工序 02/03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最常用的一条路：你只需要发五次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像点菜：你只说想吃什么、忌口什么，厨师不会让你先教他热锅。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05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664208"/>
            <a:ext cx="5897880" cy="35295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8470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PingFang SC"/>
              </a:rPr>
              <a:t>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1828800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A1C1E"/>
                </a:solidFill>
                <a:latin typeface="PingFang SC"/>
              </a:rPr>
              <a:t>1  想让运维在页面上看到每台交换机的在线状态，掉线 1 分钟变红。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57860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14535B"/>
                </a:solidFill>
                <a:latin typeface="PingFang SC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2560320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A1C1E"/>
                </a:solidFill>
                <a:latin typeface="PingFang SC"/>
              </a:rPr>
              <a:t>三个白话问题：要发通知吗？最多多少台？掉线怎么算？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31012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PingFang SC"/>
              </a:rPr>
              <a:t>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" y="3291840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A1C1E"/>
                </a:solidFill>
                <a:latin typeface="PingFang SC"/>
              </a:rPr>
              <a:t>你推荐默认值，标暂定。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04164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14535B"/>
                </a:solidFill>
                <a:latin typeface="PingFang SC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456" y="4023360"/>
            <a:ext cx="4937760" cy="6035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A1C1E"/>
                </a:solidFill>
                <a:latin typeface="PingFang SC"/>
              </a:rPr>
              <a:t>PRD、原型、用例矩阵已生成，任务已进看板。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68172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7A7E85"/>
                </a:solidFill>
                <a:latin typeface="PingFang SC"/>
              </a:rPr>
              <a:t>之后照抄：2 → 3 → 4 →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16642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A1C1E"/>
                </a:solidFill>
                <a:latin typeface="PingFang SC"/>
              </a:rPr>
              <a:t>每一轮，你只做一件事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084832"/>
            <a:ext cx="29260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2066544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A1C1E"/>
                </a:solidFill>
                <a:latin typeface="PingFang SC"/>
              </a:rPr>
              <a:t>扫一眼 PRD 的业务规则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2322576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写错现在改最便宜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2852928"/>
            <a:ext cx="29260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624" y="283464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A1C1E"/>
                </a:solidFill>
                <a:latin typeface="PingFang SC"/>
              </a:rPr>
              <a:t>看它改了哪些文件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309067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别让它顺手重构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621024"/>
            <a:ext cx="29260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360273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A1C1E"/>
                </a:solidFill>
                <a:latin typeface="PingFang SC"/>
              </a:rPr>
              <a:t>亲眼看到 [LGTM]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624" y="3858768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AI 转述的不算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389120"/>
            <a:ext cx="29260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4370832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A1C1E"/>
                </a:solidFill>
                <a:latin typeface="PingFang SC"/>
              </a:rPr>
              <a:t>verify 之后点头放行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4626864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唯一你拍板的时刻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工序 03/03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不一定要走全程：五条旁路随时插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像看病：小感冒去社区门诊（B2/B3），要做大手术才进三甲（全流程）。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06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2002536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901952"/>
            <a:ext cx="163677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212848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老项目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51760"/>
            <a:ext cx="161848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 i="0">
                <a:solidFill>
                  <a:srgbClr val="3D4148"/>
                </a:solidFill>
                <a:latin typeface="PingFang SC"/>
              </a:rPr>
              <a:t>先建地图，再动刀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1737360"/>
            <a:ext cx="2002536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1901952"/>
            <a:ext cx="163677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212848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快修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2651760"/>
            <a:ext cx="161848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 i="0">
                <a:solidFill>
                  <a:srgbClr val="3D4148"/>
                </a:solidFill>
                <a:latin typeface="PingFang SC"/>
              </a:rPr>
              <a:t>≤ 20 行，直接改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3208" y="1737360"/>
            <a:ext cx="2002536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4376" y="1901952"/>
            <a:ext cx="163677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B3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212848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2651760"/>
            <a:ext cx="161848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 i="0">
                <a:solidFill>
                  <a:srgbClr val="3D4148"/>
                </a:solidFill>
                <a:latin typeface="PingFang SC"/>
              </a:rPr>
              <a:t>贴日志，找根因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2002536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1901952"/>
            <a:ext cx="163677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B5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212848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收工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651760"/>
            <a:ext cx="161848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 i="0">
                <a:solidFill>
                  <a:srgbClr val="3D4148"/>
                </a:solidFill>
                <a:latin typeface="PingFang SC"/>
              </a:rPr>
              <a:t>压缩上下文落盘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0616" y="1737360"/>
            <a:ext cx="2002536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1784" y="1901952"/>
            <a:ext cx="163677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B6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2212848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复活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2651760"/>
            <a:ext cx="161848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80" b="0" i="0">
                <a:solidFill>
                  <a:srgbClr val="3D4148"/>
                </a:solidFill>
                <a:latin typeface="PingFang SC"/>
              </a:rPr>
              <a:t>读名片回现场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26864"/>
            <a:ext cx="10817352" cy="841248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71830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C2410C"/>
                </a:solidFill>
                <a:latin typeface="PingFang SC"/>
              </a:rPr>
              <a:t>日常八成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4974336"/>
            <a:ext cx="10268712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A1C1E"/>
                </a:solidFill>
                <a:latin typeface="PingFang SC"/>
              </a:rPr>
              <a:t>就是 B2 小改 + B3 排错。全流程是给「会影响别人」的改动准备的 —— 接口、表结构、跨服务。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大概念 02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· 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0292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0" b="1" i="0">
                <a:solidFill>
                  <a:srgbClr val="202528"/>
                </a:solidFill>
                <a:latin typeface="PingFang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F2EFE8"/>
                </a:solidFill>
                <a:latin typeface="PingFang SC"/>
              </a:rPr>
              <a:t>「做完了」这三个字，</a:t>
            </a:r>
          </a:p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C2410C"/>
                </a:solidFill>
                <a:latin typeface="PingFang SC"/>
              </a:rPr>
              <a:t>不是证据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1005840" cy="0"/>
          </a:xfrm>
          <a:prstGeom prst="line">
            <a:avLst/>
          </a:prstGeom>
          <a:ln w="254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8795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B4B8BB"/>
                </a:solidFill>
                <a:latin typeface="PingFang SC"/>
              </a:rPr>
              <a:t>证据是能被别人复核的东西：一个能打开的文件、一段能重跑的日志、一个退出码。
你不能复核的东西，只能叫「它说」。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308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验收 01/02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三道闸，各查一件事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像寄快递：打包要过机检（机器）、面单要你签字（人）、物流要有记录（机器）。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08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00784"/>
            <a:ext cx="3435095" cy="30723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184708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闸一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21408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机器查代码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05456"/>
            <a:ext cx="3014472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14535B"/>
                </a:solidFill>
                <a:latin typeface="Menlo"/>
              </a:rPr>
              <a:t>gate.py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" y="2816352"/>
            <a:ext cx="2996183" cy="0"/>
          </a:xfrm>
          <a:prstGeom prst="line">
            <a:avLst/>
          </a:prstGeom>
          <a:ln w="9525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5256" y="2944368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2926079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有没有私装依赖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46703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3328415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有没有写死假数据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749039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3730752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有没有引公网资源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4151376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33088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改了表有没有回滚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6928" y="1700784"/>
            <a:ext cx="3435095" cy="30723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6384" y="184708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闸二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6384" y="2121408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人查交付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6384" y="2505456"/>
            <a:ext cx="3014472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14535B"/>
                </a:solidFill>
                <a:latin typeface="Menlo"/>
              </a:rPr>
              <a:t>4 维清单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96384" y="2816352"/>
            <a:ext cx="2996183" cy="0"/>
          </a:xfrm>
          <a:prstGeom prst="line">
            <a:avLst/>
          </a:prstGeom>
          <a:ln w="9525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6384" y="2944368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9264" y="2926079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业务目标对不对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6384" y="3346703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9264" y="3328415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文档同步了没有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6384" y="3749039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9264" y="3730752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SQL 能不能回滚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6384" y="4151376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9264" y="4133088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构建是不是绿的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8055" y="1700784"/>
            <a:ext cx="3435095" cy="30723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7511" y="184708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闸三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7511" y="2121408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机器查证据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7511" y="2505456"/>
            <a:ext cx="3014472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14535B"/>
                </a:solidFill>
                <a:latin typeface="Menlo"/>
              </a:rPr>
              <a:t>board.py verify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87511" y="2816352"/>
            <a:ext cx="2996184" cy="0"/>
          </a:xfrm>
          <a:prstGeom prst="line">
            <a:avLst/>
          </a:prstGeom>
          <a:ln w="9525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7511" y="2944368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0391" y="2926079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任务真的在 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7511" y="3346703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0391" y="3328415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声明的文件真的在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7511" y="3749039"/>
            <a:ext cx="182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0391" y="3730752"/>
            <a:ext cx="27950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PingFang SC"/>
              </a:rPr>
              <a:t>测试真的跑过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验收 02/02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只有一种输出算通过：LGTM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像体检报告：「基本正常」不是结论，只有「合格」两个字才算。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09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10817352" cy="9509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37360"/>
            <a:ext cx="50292" cy="950976"/>
          </a:xfrm>
          <a:prstGeom prst="rect">
            <a:avLst/>
          </a:prstGeom>
          <a:solidFill>
            <a:srgbClr val="2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202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2E6B4A"/>
                </a:solidFill>
                <a:latin typeface="Menlo"/>
              </a:rPr>
              <a:t>[LGTM]</a:t>
            </a:r>
            <a:r>
              <a:rPr sz="1200" b="1">
                <a:solidFill>
                  <a:srgbClr val="1A1C1E"/>
                </a:solidFill>
                <a:latin typeface="PingFang SC"/>
              </a:rPr>
              <a:t>  全部门禁通过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0428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全部检查项通过，准予合入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14432" y="20299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14432" y="202996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1" i="0">
                <a:solidFill>
                  <a:srgbClr val="2E6B4A"/>
                </a:solidFill>
                <a:latin typeface="PingFang SC"/>
              </a:rPr>
              <a:t>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52928"/>
            <a:ext cx="10817352" cy="9509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852928"/>
            <a:ext cx="50292" cy="9509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35808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[BLOCKING]</a:t>
            </a:r>
            <a:r>
              <a:rPr sz="1200" b="1">
                <a:solidFill>
                  <a:srgbClr val="1A1C1E"/>
                </a:solidFill>
                <a:latin typeface="PingFang SC"/>
              </a:rPr>
              <a:t>  疑似保底 Mock / 假数据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1985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代码里写死了假数据，直接拦下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14432" y="3145536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6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3145536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1" i="0">
                <a:solidFill>
                  <a:srgbClr val="C2410C"/>
                </a:solidFill>
                <a:latin typeface="PingFang SC"/>
              </a:rPr>
              <a:t>不通过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68496"/>
            <a:ext cx="10817352" cy="9509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968496"/>
            <a:ext cx="50292" cy="950976"/>
          </a:xfrm>
          <a:prstGeom prst="rect">
            <a:avLst/>
          </a:prstGeom>
          <a:solidFill>
            <a:srgbClr val="7A7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151376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7A7E85"/>
                </a:solidFill>
                <a:latin typeface="Menlo"/>
              </a:rPr>
              <a:t>exit 2</a:t>
            </a:r>
            <a:r>
              <a:rPr sz="1200" b="1">
                <a:solidFill>
                  <a:srgbClr val="1A1C1E"/>
                </a:solidFill>
                <a:latin typeface="PingFang SC"/>
              </a:rPr>
              <a:t>  未收到任何待检文件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35424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没 git add，门禁根本没跑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14432" y="4261104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14432" y="4261104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1" i="0">
                <a:solidFill>
                  <a:srgbClr val="7A7E85"/>
                </a:solidFill>
                <a:latin typeface="PingFang SC"/>
              </a:rPr>
              <a:t>不通过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21808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C2410C"/>
                </a:solidFill>
                <a:latin typeface="PingFang SC"/>
              </a:rPr>
              <a:t>exit 2 是最常见的自欺：门禁没跑，不是门禁通过。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大概念 03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· 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0292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0" b="1" i="0">
                <a:solidFill>
                  <a:srgbClr val="202528"/>
                </a:solidFill>
                <a:latin typeface="PingFang S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F2EFE8"/>
                </a:solidFill>
                <a:latin typeface="PingFang SC"/>
              </a:rPr>
              <a:t>先定契约，</a:t>
            </a:r>
          </a:p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C2410C"/>
                </a:solidFill>
                <a:latin typeface="PingFang SC"/>
              </a:rPr>
              <a:t>再写代码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1005840" cy="0"/>
          </a:xfrm>
          <a:prstGeom prst="line">
            <a:avLst/>
          </a:prstGeom>
          <a:ln w="254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8795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B4B8BB"/>
                </a:solidFill>
                <a:latin typeface="PingFang SC"/>
              </a:rPr>
              <a:t>接口、字段、表结构不是「代码细节」，是别人也在用的承诺。
契约一冻结，改它就要先改文档 —— 这不是形式，是让 AI 和你看到同一份事实。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308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契约 01/02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只有三类东西，值得停下来先定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像签合同：签之前怎么改都行，签之后再改，就得两边一起改。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11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19072"/>
            <a:ext cx="3435095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19072"/>
            <a:ext cx="34350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1956816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接口字段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359152"/>
            <a:ext cx="30144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路径、参数名、字段拼写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761488"/>
            <a:ext cx="297789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D4148"/>
                </a:solidFill>
                <a:latin typeface="PingFang SC"/>
              </a:rPr>
              <a:t>前端照文档写、后端照代码改 = 联调才发现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6928" y="1719072"/>
            <a:ext cx="3435095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6928" y="1719072"/>
            <a:ext cx="34350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4671" y="1956816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返回值结构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4671" y="2359152"/>
            <a:ext cx="30144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层级、类型、错误码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4671" y="2761488"/>
            <a:ext cx="297789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D4148"/>
                </a:solidFill>
                <a:latin typeface="PingFang SC"/>
              </a:rPr>
              <a:t>少一个 null 判断，线上就是白屏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055" y="1719072"/>
            <a:ext cx="3435095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8055" y="1719072"/>
            <a:ext cx="34350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799" y="1956816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50" b="1" i="0">
                <a:solidFill>
                  <a:srgbClr val="1A1C1E"/>
                </a:solidFill>
                <a:latin typeface="PingFang SC"/>
              </a:rPr>
              <a:t>数据库字段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359152"/>
            <a:ext cx="30144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列名、类型、索引、DDL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799" y="2761488"/>
            <a:ext cx="2977895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D4148"/>
                </a:solidFill>
                <a:latin typeface="PingFang SC"/>
              </a:rPr>
              <a:t>没有回滚脚本，出事只能手工修数据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1713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7A7E85"/>
                </a:solidFill>
                <a:latin typeface="PingFang SC"/>
              </a:rPr>
              <a:t>顺序不能反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09744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09744"/>
            <a:ext cx="1481328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14535B"/>
                </a:solidFill>
                <a:latin typeface="PingFang SC"/>
              </a:rPr>
              <a:t>改文档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7128" y="4882896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14535B"/>
                </a:solidFill>
                <a:latin typeface="PingFang S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3160" y="4809744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4809744"/>
            <a:ext cx="1481328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14535B"/>
                </a:solidFill>
                <a:latin typeface="PingFang SC"/>
              </a:rPr>
              <a:t>门禁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4487" y="4882896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14535B"/>
                </a:solidFill>
                <a:latin typeface="PingFang S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4809744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4809744"/>
            <a:ext cx="1481328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14535B"/>
                </a:solidFill>
                <a:latin typeface="PingFang SC"/>
              </a:rPr>
              <a:t>改代码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1848" y="4882896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14535B"/>
                </a:solidFill>
                <a:latin typeface="PingFang SC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79" y="4809744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79" y="4809744"/>
            <a:ext cx="1481328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14535B"/>
                </a:solidFill>
                <a:latin typeface="PingFang SC"/>
              </a:rPr>
              <a:t>回归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契约 02/02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文档和代码一旦不同步，就会打架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像两本地图：一本改了路、一本没改，司机按旧地图开，早晚撞墙。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12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262372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883664"/>
            <a:ext cx="48051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14535B"/>
                </a:solidFill>
                <a:latin typeface="PingFang SC"/>
              </a:rPr>
              <a:t>设计文档里写的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267712"/>
            <a:ext cx="48051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Menlo"/>
              </a:rPr>
              <a:t>user_name   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670048"/>
            <a:ext cx="48051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Menlo"/>
              </a:rPr>
              <a:t>GET /api/v1/topology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072384"/>
            <a:ext cx="48051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Menlo"/>
              </a:rPr>
              <a:t>返回 { code, data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3036" y="2578608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C2410C"/>
                </a:solidFill>
                <a:latin typeface="PingFang SC"/>
              </a:rPr>
              <a:t>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80" y="1737360"/>
            <a:ext cx="5262372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6812" y="1883664"/>
            <a:ext cx="48051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C2410C"/>
                </a:solidFill>
                <a:latin typeface="PingFang SC"/>
              </a:rPr>
              <a:t>代码里实际的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812" y="2267712"/>
            <a:ext cx="48051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Menlo"/>
              </a:rPr>
              <a:t>username   varchar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812" y="2670048"/>
            <a:ext cx="48051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Menlo"/>
              </a:rPr>
              <a:t>GET /api/topology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812" y="3072384"/>
            <a:ext cx="48051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Menlo"/>
              </a:rPr>
              <a:t>返回 { status, result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72000"/>
            <a:ext cx="10817352" cy="859536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681728"/>
            <a:ext cx="10268712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A1C1E"/>
                </a:solidFill>
                <a:latin typeface="PingFang SC"/>
              </a:rPr>
              <a:t>后果不是「现在报错」，是「下次 AI 照旧文档重新写一遍」，你修一次它拆一次。</a:t>
            </a:r>
          </a:p>
          <a:p>
            <a:pPr algn="l">
              <a:lnSpc>
                <a:spcPct val="145000"/>
              </a:lnSpc>
            </a:pPr>
            <a:r>
              <a:rPr sz="1150" b="1" i="0">
                <a:solidFill>
                  <a:srgbClr val="C2410C"/>
                </a:solidFill>
                <a:latin typeface="PingFang SC"/>
              </a:rPr>
              <a:t>修法只有一条：先改文档 → 再改代码 → 再回归。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大概念 04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· 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0292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0" b="1" i="0">
                <a:solidFill>
                  <a:srgbClr val="202528"/>
                </a:solidFill>
                <a:latin typeface="PingFang S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F2EFE8"/>
                </a:solidFill>
                <a:latin typeface="PingFang SC"/>
              </a:rPr>
              <a:t>记忆在硬盘上，</a:t>
            </a:r>
          </a:p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C2410C"/>
                </a:solidFill>
                <a:latin typeface="PingFang SC"/>
              </a:rPr>
              <a:t>不在聊天窗口里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1005840" cy="0"/>
          </a:xfrm>
          <a:prstGeom prst="line">
            <a:avLst/>
          </a:prstGeom>
          <a:ln w="254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8795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B4B8BB"/>
                </a:solidFill>
                <a:latin typeface="PingFang SC"/>
              </a:rPr>
              <a:t>所以关掉窗口、换台电脑、第二天再来，甚至换个人接手，都能原地复活。
上下文会衰减，硬盘不会。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308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状态 01/02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三层记忆，AI 每轮只读最上面那层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像工位：桌上便签（名片）、部门组织图（地图）、项目看板（状态）—— 找东西不用翻整个档案室。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14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10817352" cy="969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37360"/>
            <a:ext cx="50292" cy="9692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88366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C2410C"/>
                </a:solidFill>
                <a:latin typeface="PingFang SC"/>
              </a:rPr>
              <a:t>第一层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86537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名片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19202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27 行：我是谁、干到哪、下一步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34086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7A7E85"/>
                </a:solidFill>
                <a:latin typeface="PingFang SC"/>
              </a:rPr>
              <a:t>每轮开工都读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71216"/>
            <a:ext cx="10817352" cy="969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871216"/>
            <a:ext cx="50292" cy="969264"/>
          </a:xfrm>
          <a:prstGeom prst="rect">
            <a:avLst/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01752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14535B"/>
                </a:solidFill>
                <a:latin typeface="PingFang SC"/>
              </a:rPr>
              <a:t>第二层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999232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模块地图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30540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哪个模块、哪个路由、哪张表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4747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7A7E85"/>
                </a:solidFill>
                <a:latin typeface="PingFang SC"/>
              </a:rPr>
              <a:t>问到具体模块才读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05072"/>
            <a:ext cx="10817352" cy="969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005072"/>
            <a:ext cx="50292" cy="969264"/>
          </a:xfrm>
          <a:prstGeom prst="rect">
            <a:avLst/>
          </a:prstGeom>
          <a:solidFill>
            <a:srgbClr val="3D4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15137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3D4148"/>
                </a:solidFill>
                <a:latin typeface="PingFang SC"/>
              </a:rPr>
              <a:t>第三层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133087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看板与黑匣子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0984" y="4187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任务状态 + 踩坑记录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608576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7A7E85"/>
                </a:solidFill>
                <a:latin typeface="PingFang SC"/>
              </a:rPr>
              <a:t>改状态时才读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9496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这就是为什么它不用「把整个仓库读一遍」—— 那是 7 倍的开销，也是它变傻的原因。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状态 02/02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你只需要两个动作：B5 和 B6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像交接班：交班本写清楚，下一班不用把你从家里叫回来。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15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5262372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C2410C"/>
                </a:solidFill>
                <a:latin typeface="Menlo"/>
              </a:rPr>
              <a:t>B5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40864"/>
            <a:ext cx="471373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1C1E"/>
                </a:solidFill>
                <a:latin typeface="PingFang SC"/>
              </a:rPr>
              <a:t>收工：压缩成一张交接卡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52928"/>
            <a:ext cx="47137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· 今天做了什么、卡在哪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18688"/>
            <a:ext cx="47137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· 哪些规则改了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84448"/>
            <a:ext cx="47137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· 下次从哪一步接着走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788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7A7E85"/>
                </a:solidFill>
                <a:latin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1828800"/>
            <a:ext cx="5262372" cy="2377440"/>
          </a:xfrm>
          <a:prstGeom prst="roundRect">
            <a:avLst>
              <a:gd name="adj" fmla="val 3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100" y="2011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4535B"/>
                </a:solidFill>
                <a:latin typeface="Menlo"/>
              </a:rPr>
              <a:t>B6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2340864"/>
            <a:ext cx="471373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4535B"/>
                </a:solidFill>
                <a:latin typeface="PingFang SC"/>
              </a:rPr>
              <a:t>开工：读名片回到现场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852928"/>
            <a:ext cx="47137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· 3 秒进入状态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3218688"/>
            <a:ext cx="47137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· 不用重讲一遍背景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3584448"/>
            <a:ext cx="47137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3D4148"/>
                </a:solidFill>
                <a:latin typeface="PingFang SC"/>
              </a:rPr>
              <a:t>· 换个人接手也接得上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4632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1A1C1E"/>
                </a:solidFill>
                <a:latin typeface="PingFang SC"/>
              </a:rPr>
              <a:t>判据：当你发现自己在重复解释同一件事，就该 B5 了 —— 别硬聊，越聊越贵。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大概念 05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· 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0292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0" b="1" i="0">
                <a:solidFill>
                  <a:srgbClr val="202528"/>
                </a:solidFill>
                <a:latin typeface="PingFang S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F2EFE8"/>
                </a:solidFill>
                <a:latin typeface="PingFang SC"/>
              </a:rPr>
              <a:t>流程是有成本的，</a:t>
            </a:r>
          </a:p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C2410C"/>
                </a:solidFill>
                <a:latin typeface="PingFang SC"/>
              </a:rPr>
              <a:t>所以要看值不值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1005840" cy="0"/>
          </a:xfrm>
          <a:prstGeom prst="line">
            <a:avLst/>
          </a:prstGeom>
          <a:ln w="254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8795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B4B8BB"/>
                </a:solidFill>
                <a:latin typeface="PingFang SC"/>
              </a:rPr>
              <a:t>不是「有流程就比没流程好」，而是「这一次的返工成本，值不值得走流程」。
用错方向比不用更浪费：小改动走全程，人就会开始偷偷绕开流程。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308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成本 01/02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改多大，就走多远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像出行：下楼买酱油骑车，跨省出差坐飞机 —— 没人会为买瓶酱油去机场。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17 / 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920240"/>
          <a:ext cx="10817351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0685"/>
                <a:gridCol w="2379817"/>
                <a:gridCol w="4002420"/>
                <a:gridCol w="1514429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改动规模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走哪条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典型例子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耗时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C1E"/>
                          </a:solidFill>
                          <a:latin typeface="PingFang SC"/>
                        </a:rPr>
                        <a:t>1 个文件 / ≤ 20 行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B2 快修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改文案、换颜色、调间距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5 分钟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C1E"/>
                          </a:solidFill>
                          <a:latin typeface="PingFang SC"/>
                        </a:rPr>
                        <a:t>单模块，不动表结构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1 → 3 → 4 → 7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列表加筛选、加一条校验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半天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C1E"/>
                          </a:solidFill>
                          <a:latin typeface="PingFang SC"/>
                        </a:rPr>
                        <a:t>动接口 / 表 / 跨服务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全流程 1 → 9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新增权限表、改返回结构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C1E"/>
                          </a:solidFill>
                          <a:latin typeface="PingFang SC"/>
                        </a:rPr>
                        <a:t>1 – 3 天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4718304"/>
            <a:ext cx="10817352" cy="804672"/>
          </a:xfrm>
          <a:prstGeom prst="roundRect">
            <a:avLst>
              <a:gd name="adj" fmla="val 3000"/>
            </a:avLst>
          </a:prstGeom>
          <a:solidFill>
            <a:srgbClr val="F6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809744"/>
            <a:ext cx="10268712" cy="6217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C1E"/>
                </a:solidFill>
                <a:latin typeface="PingFang SC"/>
              </a:rPr>
              <a:t>90% 的日常落在前两行。第三行的判据只有一条：会不会影响别人（前端、别的服务、线上数据）。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成本 02/02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有些时候，别用这套流程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像急救：先止血，别先填病历。等活下来了，再补记录。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18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262372" cy="1042415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01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一次性脚本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2494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跑完就扔，没有下一个人维护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780" y="1737360"/>
            <a:ext cx="5262372" cy="1042415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6812" y="1901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还在探索的原型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812" y="22494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需求自己都没想清，先跑起来看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17520"/>
            <a:ext cx="5262372" cy="1042415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182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纯样式微调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5295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改一个 CSS 值，走流程纯属自虐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17520"/>
            <a:ext cx="5262372" cy="1042415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6812" y="3182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1A1C1E"/>
                </a:solidFill>
                <a:latin typeface="PingFang SC"/>
              </a:rPr>
              <a:t>只为演示的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812" y="35295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7A7E85"/>
                </a:solidFill>
                <a:latin typeface="PingFang SC"/>
              </a:rPr>
              <a:t>明天就要演，先出效果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18304"/>
            <a:ext cx="10817352" cy="822960"/>
          </a:xfrm>
          <a:prstGeom prst="roundRect">
            <a:avLst>
              <a:gd name="adj" fmla="val 3000"/>
            </a:avLst>
          </a:prstGeom>
          <a:solidFill>
            <a:srgbClr val="D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809744"/>
            <a:ext cx="1026871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14535B"/>
                </a:solidFill>
                <a:latin typeface="PingFang SC"/>
              </a:rPr>
              <a:t>流程的目的是减少返工，不是增加仪式。当流程成本 &gt; 返工成本，就用 B2，或者干脆不用。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41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大概念 06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8412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· 包工头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0292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0" b="1" i="0">
                <a:solidFill>
                  <a:srgbClr val="202528"/>
                </a:solidFill>
                <a:latin typeface="PingFang S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F2EFE8"/>
                </a:solidFill>
                <a:latin typeface="PingFang SC"/>
              </a:rPr>
              <a:t>你是包工头，</a:t>
            </a:r>
          </a:p>
          <a:p>
            <a:pPr algn="l">
              <a:lnSpc>
                <a:spcPct val="142000"/>
              </a:lnSpc>
            </a:pPr>
            <a:r>
              <a:rPr sz="3300" b="1" i="0">
                <a:solidFill>
                  <a:srgbClr val="C2410C"/>
                </a:solidFill>
                <a:latin typeface="PingFang SC"/>
              </a:rPr>
              <a:t>不是许愿池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1005840" cy="0"/>
          </a:xfrm>
          <a:prstGeom prst="line">
            <a:avLst/>
          </a:prstGeom>
          <a:ln w="254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87952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</a:pPr>
            <a:r>
              <a:rPr sz="1350" b="0" i="0">
                <a:solidFill>
                  <a:srgbClr val="B4B8BB"/>
                </a:solidFill>
                <a:latin typeface="PingFang SC"/>
              </a:rPr>
              <a:t>你负责发工序、验收、拍板；它负责干活、出证据、别自作主张。
把它当工人，你会得到可交付的结果；把它当许愿池，你只会得到「看起来像完成了」。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308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A4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58704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包工头 01/02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把「帮我写」换掉，四句话就够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像跟装修队说话：先出图、只改这面墙、为什么漏水、验收标准是什么。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20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19072"/>
            <a:ext cx="5262372" cy="14996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18288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C2410C"/>
                </a:solidFill>
                <a:latin typeface="PingFang SC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1901952"/>
            <a:ext cx="447598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1A1C1E"/>
                </a:solidFill>
                <a:latin typeface="PingFang SC"/>
              </a:rPr>
              <a:t>先别写代码，把方案和影响面说清楚。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761488"/>
            <a:ext cx="4475988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省一次返工：先对齐再动手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80" y="1719072"/>
            <a:ext cx="5262372" cy="14996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0236" y="18288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C2410C"/>
                </a:solidFill>
                <a:latin typeface="PingFang SC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1132" y="1901952"/>
            <a:ext cx="447598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1A1C1E"/>
                </a:solidFill>
                <a:latin typeface="PingFang SC"/>
              </a:rPr>
              <a:t>只改这个文件，其他一律不动。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1132" y="2761488"/>
            <a:ext cx="4475988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防顺手重构：改动面越小越安全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19856"/>
            <a:ext cx="5262372" cy="14996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5295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C2410C"/>
                </a:solidFill>
                <a:latin typeface="PingFang SC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602736"/>
            <a:ext cx="447598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1A1C1E"/>
                </a:solidFill>
                <a:latin typeface="PingFang SC"/>
              </a:rPr>
              <a:t>根因是什么？用白话讲，再给最小修法。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62272"/>
            <a:ext cx="4475988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防瞎试：讲不清根因就是在猜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3419856"/>
            <a:ext cx="5262372" cy="14996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5295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1" i="0">
                <a:solidFill>
                  <a:srgbClr val="C2410C"/>
                </a:solidFill>
                <a:latin typeface="PingFang SC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1132" y="3602736"/>
            <a:ext cx="447598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1A1C1E"/>
                </a:solidFill>
                <a:latin typeface="PingFang SC"/>
              </a:rPr>
              <a:t>你说做完了 —— 证据是什么？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1132" y="4462272"/>
            <a:ext cx="4475988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7A7E85"/>
                </a:solidFill>
                <a:latin typeface="PingFang SC"/>
              </a:rPr>
              <a:t>防自我认证：文件、门禁、verify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9A9EA2"/>
                </a:solidFill>
                <a:latin typeface="PingFang SC"/>
              </a:rPr>
              <a:t>详情 · 包工头 02/02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2EFE8"/>
                </a:solidFill>
                <a:latin typeface="PingFang SC"/>
              </a:rPr>
              <a:t>五条红线，做了等于没走流程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3A40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22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F2EFE8"/>
                </a:solidFill>
                <a:latin typeface="PingFang SC"/>
              </a:rPr>
              <a:t>像工地安全帽：不戴不罚你，但出事的一定是你。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21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0078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645920"/>
            <a:ext cx="67665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EFE8"/>
                </a:solidFill>
                <a:latin typeface="PingFang SC"/>
              </a:rPr>
              <a:t>不许手改状态看板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7007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EA2"/>
                </a:solidFill>
                <a:latin typeface="PingFang SC"/>
              </a:rPr>
              <a:t>锚点一坏，verify / complete 全失效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359152"/>
            <a:ext cx="10817352" cy="0"/>
          </a:xfrm>
          <a:prstGeom prst="line">
            <a:avLst/>
          </a:prstGeom>
          <a:ln w="9525">
            <a:solidFill>
              <a:srgbClr val="2E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468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14016"/>
            <a:ext cx="67665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EFE8"/>
                </a:solidFill>
                <a:latin typeface="PingFang SC"/>
              </a:rPr>
              <a:t>不许跳过 verify 直接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468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EA2"/>
                </a:solidFill>
                <a:latin typeface="PingFang SC"/>
              </a:rPr>
              <a:t>这是防你跳过验收的保护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27248"/>
            <a:ext cx="10817352" cy="0"/>
          </a:xfrm>
          <a:prstGeom prst="line">
            <a:avLst/>
          </a:prstGeom>
          <a:ln w="9525">
            <a:solidFill>
              <a:srgbClr val="2E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2369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182112"/>
            <a:ext cx="67665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EFE8"/>
                </a:solidFill>
                <a:latin typeface="PingFang SC"/>
              </a:rPr>
              <a:t>不许用假数据让页面「看起来能跑」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23697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EA2"/>
                </a:solidFill>
                <a:latin typeface="PingFang SC"/>
              </a:rPr>
              <a:t>唯一零容忍，会把问题推迟到上线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895344"/>
            <a:ext cx="10817352" cy="0"/>
          </a:xfrm>
          <a:prstGeom prst="line">
            <a:avLst/>
          </a:prstGeom>
          <a:ln w="9525">
            <a:solidFill>
              <a:srgbClr val="2E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0050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50208"/>
            <a:ext cx="67665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EFE8"/>
                </a:solidFill>
                <a:latin typeface="PingFang SC"/>
              </a:rPr>
              <a:t>不许私自装新依赖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0050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EA2"/>
                </a:solidFill>
                <a:latin typeface="PingFang SC"/>
              </a:rPr>
              <a:t>要装可以，但由人拍板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4663440"/>
            <a:ext cx="10817352" cy="0"/>
          </a:xfrm>
          <a:prstGeom prst="line">
            <a:avLst/>
          </a:prstGeom>
          <a:ln w="9525">
            <a:solidFill>
              <a:srgbClr val="2E3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47731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718304"/>
            <a:ext cx="67665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EFE8"/>
                </a:solidFill>
                <a:latin typeface="PingFang SC"/>
              </a:rPr>
              <a:t>不许改了字段不更新文档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7731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EA2"/>
                </a:solidFill>
                <a:latin typeface="PingFang SC"/>
              </a:rPr>
              <a:t>下次 AI 照旧文档写，你和它打架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落地 01/02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四个动作，构成一个工作日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像打卡：上班开机、干活、卡住想清楚、收工存档 —— 不用记 16 篇 SOP。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22 / 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883664"/>
          <a:ext cx="1081735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5296"/>
                <a:gridCol w="2163470"/>
                <a:gridCol w="3894246"/>
                <a:gridCol w="270433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时机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你说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它做什么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为什么值</a:t>
                      </a:r>
                    </a:p>
                  </a:txBody>
                  <a:tcPr marL="128016" marR="91440" marT="45720" marB="45720" anchor="ctr">
                    <a:solidFill>
                      <a:srgbClr val="1A1C1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C1E"/>
                          </a:solidFill>
                          <a:latin typeface="PingFang SC"/>
                        </a:rPr>
                        <a:t>早上开工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B6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读名片，恢复昨天现场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3 秒进状态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C1E"/>
                          </a:solidFill>
                          <a:latin typeface="PingFang SC"/>
                        </a:rPr>
                        <a:t>干活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3 / B3 / B2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编码 / 排错 / 小修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按改动大小选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C1E"/>
                          </a:solidFill>
                          <a:latin typeface="PingFang SC"/>
                        </a:rPr>
                        <a:t>卡住想不清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先出接口和影响面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比边写边想省一半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C1E"/>
                          </a:solidFill>
                          <a:latin typeface="PingFang SC"/>
                        </a:rPr>
                        <a:t>收工 / 换话题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B5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压缩上下文，写交接卡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C1E"/>
                          </a:solidFill>
                          <a:latin typeface="PingFang SC"/>
                        </a:rPr>
                        <a:t>明天还能接上</a:t>
                      </a:r>
                    </a:p>
                  </a:txBody>
                  <a:tcPr marL="128016" marR="91440" marT="45720" marB="45720" anchor="ctr">
                    <a:lnB w="9525" cap="flat" cmpd="sng" algn="ctr">
                      <a:solidFill>
                        <a:srgbClr val="E2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5010912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建议：把 B5 / B6 设成输入法快捷短语，成本几乎为零。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详情 · 落地 02/02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四周，从一条旁路开始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像健身：第一周只练一个动作，别一上来就上大重量 —— 上大重量的人第三周就不来了。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23 / 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75104"/>
            <a:ext cx="2523744" cy="365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PingFang SC"/>
              </a:rPr>
              <a:t>第 1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3969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A1C1E"/>
                </a:solidFill>
                <a:latin typeface="PingFang SC"/>
              </a:rPr>
              <a:t>只用 B2 和 B3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零学习成本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918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小改直接说 B2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报错贴完整日志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1975104"/>
            <a:ext cx="2523744" cy="365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17373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PingFang SC"/>
              </a:rPr>
              <a:t>第 2~3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213969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A1C1E"/>
                </a:solidFill>
                <a:latin typeface="PingFang SC"/>
              </a:rPr>
              <a:t>一个需求走 1→3→4→7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28346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跳过 2 和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32918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重点是看见 LGTM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749039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卡住就问，别硬走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1975104"/>
            <a:ext cx="2523744" cy="365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17373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PingFang SC"/>
              </a:rPr>
              <a:t>第 2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213969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A1C1E"/>
                </a:solidFill>
                <a:latin typeface="PingFang SC"/>
              </a:rPr>
              <a:t>加 [2] 契约冻结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28346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接口先定死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624" y="32918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集成跑真实数据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0536" y="1975104"/>
            <a:ext cx="2523744" cy="365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0536" y="17373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PingFang SC"/>
              </a:rPr>
              <a:t>第 3 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0536" y="213969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A1C1E"/>
                </a:solidFill>
                <a:latin typeface="PingFang SC"/>
              </a:rPr>
              <a:t>B1 老项目 + 复盘卡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0536" y="28346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先建地图再动刀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3291840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D4148"/>
                </a:solidFill>
                <a:latin typeface="PingFang SC"/>
              </a:rPr>
              <a:t>· 坑写成复盘卡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553712"/>
            <a:ext cx="10817352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645152"/>
            <a:ext cx="1026871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7A7E85"/>
                </a:solidFill>
                <a:latin typeface="PingFang SC"/>
              </a:rPr>
              <a:t>配套材料（有问题先看这四个）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4919472"/>
            <a:ext cx="10268712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3D4148"/>
                </a:solidFill>
                <a:latin typeface="Menlo"/>
              </a:rPr>
              <a:t>README  ·  BEGINNER_HANDBOOK  ·  docs/playbooks/demo-scripts.md  ·  workflow_guide.html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Menlo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7A7E85"/>
                </a:solidFill>
                <a:latin typeface="PingFang SC"/>
              </a:rPr>
              <a:t>带走 · 一页纸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1735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1A1C1E"/>
                </a:solidFill>
                <a:latin typeface="PingFang SC"/>
              </a:rPr>
              <a:t>贴显示器边上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17320"/>
            <a:ext cx="10817352" cy="0"/>
          </a:xfrm>
          <a:prstGeom prst="line">
            <a:avLst/>
          </a:prstGeom>
          <a:ln w="11430">
            <a:solidFill>
              <a:srgbClr val="D8D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5724144"/>
            <a:ext cx="10817352" cy="548640"/>
          </a:xfrm>
          <a:prstGeom prst="roundRect">
            <a:avLst>
              <a:gd name="adj" fmla="val 3000"/>
            </a:avLst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5797296"/>
            <a:ext cx="859536" cy="40233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797296"/>
            <a:ext cx="859536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用人话说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5788152"/>
            <a:ext cx="9482328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3D4148"/>
                </a:solidFill>
                <a:latin typeface="PingFang SC"/>
              </a:rPr>
              <a:t>记不住 16 篇 SOP 没关系，记住这张卡就够开工。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24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262372" cy="1682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37360"/>
            <a:ext cx="45720" cy="1682496"/>
          </a:xfrm>
          <a:prstGeom prst="rect">
            <a:avLst/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88366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4535B"/>
                </a:solidFill>
                <a:latin typeface="PingFang SC"/>
              </a:rPr>
              <a:t>日常三连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23113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开工   B6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57860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干活   3 / B3 / B2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92608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收工   B5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80" y="1737360"/>
            <a:ext cx="5262372" cy="1682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780" y="1737360"/>
            <a:ext cx="45720" cy="1682496"/>
          </a:xfrm>
          <a:prstGeom prst="rect">
            <a:avLst/>
          </a:prstGeom>
          <a:solidFill>
            <a:srgbClr val="14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6812" y="188366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4535B"/>
                </a:solidFill>
                <a:latin typeface="PingFang SC"/>
              </a:rPr>
              <a:t>主链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812" y="223113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C1E"/>
                </a:solidFill>
                <a:latin typeface="Menlo"/>
              </a:rPr>
              <a:t>1 → 2 → 3 → 4 → 5 → 6 →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812" y="257860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C1E"/>
                </a:solidFill>
                <a:latin typeface="Menlo"/>
              </a:rPr>
              <a:t>7 是唯一能标绿的出口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84448"/>
            <a:ext cx="5262372" cy="1682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584448"/>
            <a:ext cx="45720" cy="1682496"/>
          </a:xfrm>
          <a:prstGeom prst="rect">
            <a:avLst/>
          </a:prstGeom>
          <a:solidFill>
            <a:srgbClr val="1A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730752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A1C1E"/>
                </a:solidFill>
                <a:latin typeface="PingFang SC"/>
              </a:rPr>
              <a:t>三条硬命令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07822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C1E"/>
                </a:solidFill>
                <a:latin typeface="Menlo"/>
              </a:rPr>
              <a:t>board.py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42569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C1E"/>
                </a:solidFill>
                <a:latin typeface="Menlo"/>
              </a:rPr>
              <a:t>board.py verify "Task-XXX"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77316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C1E"/>
                </a:solidFill>
                <a:latin typeface="Menlo"/>
              </a:rPr>
              <a:t>board.py complete --accept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0780" y="3584448"/>
            <a:ext cx="5262372" cy="16824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0780" y="3584448"/>
            <a:ext cx="45720" cy="16824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6812" y="3730752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C2410C"/>
                </a:solidFill>
                <a:latin typeface="PingFang SC"/>
              </a:rPr>
              <a:t>五个不许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6812" y="407822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不改状态看板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6812" y="442569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不跳过 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6812" y="477316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不写死假数据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6812" y="51206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不私装依赖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6812" y="546811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E"/>
                </a:solidFill>
                <a:latin typeface="PingFang SC"/>
              </a:rPr>
              <a:t>不改字段不改文档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7A7E85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7A7E85"/>
                </a:solidFill>
                <a:latin typeface="Menlo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8C9196"/>
                </a:solidFill>
                <a:latin typeface="PingFang SC"/>
              </a:rPr>
              <a:t>接下来 24 小时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98448"/>
            <a:ext cx="71323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F2EFE8"/>
                </a:solidFill>
                <a:latin typeface="PingFang SC"/>
              </a:rPr>
              <a:t>今天只做一件事：</a:t>
            </a:r>
          </a:p>
          <a:p>
            <a:pPr algn="l">
              <a:lnSpc>
                <a:spcPct val="140000"/>
              </a:lnSpc>
            </a:pPr>
            <a:r>
              <a:rPr sz="2700" b="1" i="0">
                <a:solidFill>
                  <a:srgbClr val="C2410C"/>
                </a:solidFill>
                <a:latin typeface="PingFang SC"/>
              </a:rPr>
              <a:t>先把它当包工头，而不是许愿池。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626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292608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F2EFE8"/>
                </a:solidFill>
                <a:latin typeface="PingFang SC"/>
              </a:rPr>
              <a:t>明天开工第一句，发 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321868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9A9EA2"/>
                </a:solidFill>
                <a:latin typeface="PingFang SC"/>
              </a:rPr>
              <a:t>看它能不能 3 秒接上昨天的现场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856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374904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F2EFE8"/>
                </a:solidFill>
                <a:latin typeface="PingFang SC"/>
              </a:rPr>
              <a:t>找一个 ≤ 20 行的改动，用 B2 走一遍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404164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9A9EA2"/>
                </a:solidFill>
                <a:latin typeface="PingFang SC"/>
              </a:rPr>
              <a:t>感受「改完就完」是什么效率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085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1" i="0">
                <a:solidFill>
                  <a:srgbClr val="C2410C"/>
                </a:solidFill>
                <a:latin typeface="Menl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457200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50" b="1" i="0">
                <a:solidFill>
                  <a:srgbClr val="F2EFE8"/>
                </a:solidFill>
                <a:latin typeface="PingFang SC"/>
              </a:rPr>
              <a:t>下次它说「做完了」，问它证据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486460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9A9EA2"/>
                </a:solidFill>
                <a:latin typeface="PingFang SC"/>
              </a:rPr>
              <a:t>文件 / 门禁 / verify 三样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1371600"/>
            <a:ext cx="3621024" cy="3749039"/>
          </a:xfrm>
          <a:prstGeom prst="roundRect">
            <a:avLst>
              <a:gd name="adj" fmla="val 3000"/>
            </a:avLst>
          </a:prstGeom>
          <a:solidFill>
            <a:srgbClr val="22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EFE8"/>
                </a:solidFill>
                <a:latin typeface="PingFang SC"/>
              </a:rPr>
              <a:t>有问题先看这四个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C9C5BA"/>
                </a:solidFill>
                <a:latin typeface="Menlo"/>
              </a:rPr>
              <a:t>README.md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56448" y="2322576"/>
            <a:ext cx="3072384" cy="0"/>
          </a:xfrm>
          <a:prstGeom prst="line">
            <a:avLst/>
          </a:prstGeom>
          <a:ln w="9525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56448" y="252374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C9C5BA"/>
                </a:solidFill>
                <a:latin typeface="Menlo"/>
              </a:rPr>
              <a:t>BEGINNER_HANDBOOK.md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56448" y="2871216"/>
            <a:ext cx="3072384" cy="0"/>
          </a:xfrm>
          <a:prstGeom prst="line">
            <a:avLst/>
          </a:prstGeom>
          <a:ln w="9525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56448" y="307238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C9C5BA"/>
                </a:solidFill>
                <a:latin typeface="Menlo"/>
              </a:rPr>
              <a:t>docs/playbooks/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56448" y="3419856"/>
            <a:ext cx="3072384" cy="0"/>
          </a:xfrm>
          <a:prstGeom prst="line">
            <a:avLst/>
          </a:prstGeom>
          <a:ln w="9525">
            <a:solidFill>
              <a:srgbClr val="333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56448" y="3621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C9C5BA"/>
                </a:solidFill>
                <a:latin typeface="Menlo"/>
              </a:rPr>
              <a:t>workflow_guide.html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22452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900" b="0" i="0">
                <a:solidFill>
                  <a:srgbClr val="8C9196"/>
                </a:solidFill>
                <a:latin typeface="PingFang SC"/>
              </a:rPr>
              <a:t>16 篇 SOP 在 .ai/sop/
日常只读命中的那一篇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15584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8C9196"/>
                </a:solidFill>
                <a:latin typeface="PingFang SC"/>
              </a:rPr>
              <a:t>谢谢 · 现在可以开始问「我们组怎么用」了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E7276"/>
                </a:solidFill>
                <a:latin typeface="PingFang SC"/>
              </a:rPr>
              <a:t>Apex 工作流 · 内部培训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5872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50" b="0" i="0">
                <a:solidFill>
                  <a:srgbClr val="6E7276"/>
                </a:solidFill>
                <a:latin typeface="Menlo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